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4" r:id="rId1"/>
  </p:sldMasterIdLst>
  <p:notesMasterIdLst>
    <p:notesMasterId r:id="rId20"/>
  </p:notesMasterIdLst>
  <p:sldIdLst>
    <p:sldId id="260" r:id="rId2"/>
    <p:sldId id="272" r:id="rId3"/>
    <p:sldId id="335" r:id="rId4"/>
    <p:sldId id="315" r:id="rId5"/>
    <p:sldId id="316" r:id="rId6"/>
    <p:sldId id="317" r:id="rId7"/>
    <p:sldId id="318" r:id="rId8"/>
    <p:sldId id="321" r:id="rId9"/>
    <p:sldId id="319" r:id="rId10"/>
    <p:sldId id="347" r:id="rId11"/>
    <p:sldId id="322" r:id="rId12"/>
    <p:sldId id="259" r:id="rId13"/>
    <p:sldId id="336" r:id="rId14"/>
    <p:sldId id="326" r:id="rId15"/>
    <p:sldId id="340" r:id="rId16"/>
    <p:sldId id="342" r:id="rId17"/>
    <p:sldId id="337" r:id="rId18"/>
    <p:sldId id="31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6399" initials="9" lastIdx="1" clrIdx="0">
    <p:extLst>
      <p:ext uri="{19B8F6BF-5375-455C-9EA6-DF929625EA0E}">
        <p15:presenceInfo xmlns:p15="http://schemas.microsoft.com/office/powerpoint/2012/main" userId="96399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نمط فاتح 1 - تميي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نمط متوسط 1 - تميي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نمط متوسط 3 - تميي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034" autoAdjust="0"/>
    <p:restoredTop sz="94660"/>
  </p:normalViewPr>
  <p:slideViewPr>
    <p:cSldViewPr>
      <p:cViewPr varScale="1">
        <p:scale>
          <a:sx n="72" d="100"/>
          <a:sy n="72" d="100"/>
        </p:scale>
        <p:origin x="58" y="25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241E1-6AE0-4C2C-ACCA-30F045F3433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B48E-7FF5-4422-B2C8-8CB36B8B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5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9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9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9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9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9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31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4839D-44F5-4741-8322-36C4160C75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11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624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3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67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2336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880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95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0882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312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726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358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8201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68FE8-0B95-4199-9F53-933912788E94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e.ucf.edu/seniordesign/sp2025su2025/g01/Docs/ConferencePaperGroup1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923169-4894-430F-895C-ACA33E27E5B4}"/>
              </a:ext>
            </a:extLst>
          </p:cNvPr>
          <p:cNvSpPr txBox="1">
            <a:spLocks/>
          </p:cNvSpPr>
          <p:nvPr/>
        </p:nvSpPr>
        <p:spPr>
          <a:xfrm>
            <a:off x="2056210" y="532229"/>
            <a:ext cx="6686549" cy="43975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C6405-EE9C-4B4A-AD7B-C01C58FE2E89}"/>
              </a:ext>
            </a:extLst>
          </p:cNvPr>
          <p:cNvSpPr txBox="1">
            <a:spLocks/>
          </p:cNvSpPr>
          <p:nvPr/>
        </p:nvSpPr>
        <p:spPr>
          <a:xfrm>
            <a:off x="2284810" y="837029"/>
            <a:ext cx="6686549" cy="43975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3C597-D489-4F54-A946-1B20191A68FA}"/>
              </a:ext>
            </a:extLst>
          </p:cNvPr>
          <p:cNvSpPr txBox="1"/>
          <p:nvPr/>
        </p:nvSpPr>
        <p:spPr>
          <a:xfrm>
            <a:off x="5742384" y="-26234"/>
            <a:ext cx="32231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endParaRPr lang="en-US" sz="1800" b="1" dirty="0"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الجمهورية العربية السورية</a:t>
            </a:r>
            <a:endParaRPr lang="ar-SY" sz="1800" b="1" dirty="0"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وزارة التعليم العالي والبحث العلمي</a:t>
            </a:r>
            <a: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b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Y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</a:t>
            </a:r>
            <a: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جامعة </a:t>
            </a:r>
            <a:r>
              <a:rPr lang="ar-SY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السورية الخاصة</a:t>
            </a:r>
            <a:endParaRPr lang="en-US" sz="1800" b="1" dirty="0"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كلية الهندسة</a:t>
            </a:r>
            <a:b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قسم هندسة الاتصالات </a:t>
            </a:r>
            <a:r>
              <a:rPr lang="ar-SY" sz="1800" b="1" dirty="0"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والشبكات</a:t>
            </a:r>
            <a:endParaRPr lang="en-US" b="1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8C2F2-2A97-4088-874B-3666F5180861}"/>
              </a:ext>
            </a:extLst>
          </p:cNvPr>
          <p:cNvSpPr txBox="1"/>
          <p:nvPr/>
        </p:nvSpPr>
        <p:spPr>
          <a:xfrm>
            <a:off x="179512" y="1755705"/>
            <a:ext cx="879184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rtl="1">
              <a:defRPr/>
            </a:pPr>
            <a:r>
              <a:rPr lang="ar-AE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سم</a:t>
            </a:r>
            <a:r>
              <a:rPr lang="ar-SY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ي</a:t>
            </a:r>
            <a:r>
              <a:rPr lang="ar-AE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نار </a:t>
            </a:r>
            <a:r>
              <a:rPr lang="ar-SY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مرحلي اول</a:t>
            </a:r>
            <a:r>
              <a:rPr lang="ar-AE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</a:t>
            </a:r>
            <a:r>
              <a:rPr lang="ar-SY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- في </a:t>
            </a:r>
            <a:r>
              <a:rPr lang="ar-SY" sz="2000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هندسة</a:t>
            </a:r>
            <a:r>
              <a:rPr lang="ar-SA" sz="2000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sz="2000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الاتصالات </a:t>
            </a:r>
            <a:r>
              <a:rPr lang="ar-SA" sz="20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بعنوان:</a:t>
            </a:r>
            <a:endParaRPr lang="ar-SY" sz="2000" b="1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3200" b="1" dirty="0">
                <a:solidFill>
                  <a:prstClr val="black"/>
                </a:solidFill>
                <a:latin typeface="Century Gothic" panose="020B0502020202020204"/>
              </a:rPr>
              <a:t>نقل الصوت عن طريق الليزر والمستشعرات الضوئية</a:t>
            </a:r>
            <a:endParaRPr kumimoji="0" lang="ar-SY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ctr" defTabSz="457200" rtl="1">
              <a:defRPr/>
            </a:pPr>
            <a:endParaRPr lang="ar-SY" b="1" dirty="0">
              <a:solidFill>
                <a:prstClr val="black"/>
              </a:solidFill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endParaRPr lang="ar-SY" b="1" dirty="0">
              <a:solidFill>
                <a:prstClr val="black"/>
              </a:solidFill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endParaRPr lang="ar-SY" b="1" dirty="0">
              <a:solidFill>
                <a:prstClr val="black"/>
              </a:solidFill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r>
              <a:rPr lang="ar-AE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إعداد</a:t>
            </a: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:</a:t>
            </a:r>
            <a:endParaRPr lang="en-US" b="1" dirty="0">
              <a:solidFill>
                <a:prstClr val="black"/>
              </a:solidFill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محمد نضال الكوسى</a:t>
            </a:r>
            <a:r>
              <a:rPr lang="en-US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</a:t>
            </a:r>
          </a:p>
          <a:p>
            <a:pPr lvl="0" algn="ctr" defTabSz="457200" rtl="1">
              <a:defRPr/>
            </a:pPr>
            <a:r>
              <a:rPr kumimoji="0" lang="ar-SY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cs typeface="Simplified Arabic" panose="02020603050405020304" pitchFamily="18" charset="-78"/>
              </a:rPr>
              <a:t>قمر دردر</a:t>
            </a:r>
          </a:p>
          <a:p>
            <a:pPr lvl="0" algn="ctr" defTabSz="457200" rtl="1">
              <a:lnSpc>
                <a:spcPct val="15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          </a:t>
            </a: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 </a:t>
            </a:r>
            <a:r>
              <a:rPr lang="en-US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  </a:t>
            </a: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</a:t>
            </a:r>
            <a:r>
              <a:rPr lang="ar-AE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المشرف</a:t>
            </a: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العلمي	:د.م وسام الخطيب			</a:t>
            </a:r>
            <a:endParaRPr lang="en-US" b="1" dirty="0">
              <a:solidFill>
                <a:prstClr val="black"/>
              </a:solidFill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lnSpc>
                <a:spcPct val="150000"/>
              </a:lnSpc>
              <a:defRPr/>
            </a:pP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المشرف المشارك:م.محمد عثمان</a:t>
            </a:r>
          </a:p>
          <a:p>
            <a:pPr lvl="0" algn="ctr" defTabSz="457200" rtl="1">
              <a:defRPr/>
            </a:pPr>
            <a:endParaRPr kumimoji="0" lang="ar-SY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endParaRPr lang="ar-SY" sz="2400" b="1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C05B2-E022-4383-9AD8-3E2EF498DE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407245"/>
            <a:ext cx="1294210" cy="88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97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872" y="1376772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مشكلة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</a:t>
            </a:r>
            <a:r>
              <a:rPr lang="ar-SY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دراسات المرجعية</a:t>
            </a:r>
            <a:endParaRPr lang="ar-SY" sz="2800" b="0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قائمة المراجع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595641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2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9889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F596-3D44-401E-99E2-1EE7BFBD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Y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35AE-B8FD-4FFB-8A10-BA1E23205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SY" dirty="0"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dirty="0"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مشكلة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الاساسيات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قائمة المراجع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CEDC-0400-463E-B6C5-9B5C6C1B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512" y="6320940"/>
            <a:ext cx="2133600" cy="365125"/>
          </a:xfrm>
        </p:spPr>
        <p:txBody>
          <a:bodyPr/>
          <a:lstStyle/>
          <a:p>
            <a:pPr algn="l"/>
            <a:fld id="{C489637A-11D4-42A0-937C-45FCD8DF8B40}" type="slidenum">
              <a:rPr lang="en-US" sz="3200" b="1" smtClean="0"/>
              <a:pPr algn="l"/>
              <a:t>3</a:t>
            </a:fld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7164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707904" y="404664"/>
            <a:ext cx="1994992" cy="710952"/>
          </a:xfrm>
        </p:spPr>
        <p:txBody>
          <a:bodyPr>
            <a:normAutofit fontScale="90000"/>
          </a:bodyPr>
          <a:lstStyle/>
          <a:p>
            <a:pPr algn="r" rtl="1"/>
            <a:r>
              <a:rPr lang="ar-AE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هدف</a:t>
            </a:r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 </a:t>
            </a:r>
            <a:r>
              <a:rPr lang="ar-AE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ا</a:t>
            </a:r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لمشروع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xfrm>
            <a:off x="539552" y="6237312"/>
            <a:ext cx="883673" cy="365125"/>
          </a:xfrm>
        </p:spPr>
        <p:txBody>
          <a:bodyPr/>
          <a:lstStyle/>
          <a:p>
            <a:fld id="{C489637A-11D4-42A0-937C-45FCD8DF8B40}" type="slidenum">
              <a:rPr lang="en-US" sz="4400" smtClean="0"/>
              <a:t>4</a:t>
            </a:fld>
            <a:endParaRPr lang="en-US" sz="4400" dirty="0"/>
          </a:p>
        </p:txBody>
      </p:sp>
      <p:sp>
        <p:nvSpPr>
          <p:cNvPr id="3" name="مستطيل 2"/>
          <p:cNvSpPr/>
          <p:nvPr/>
        </p:nvSpPr>
        <p:spPr>
          <a:xfrm>
            <a:off x="467544" y="1556792"/>
            <a:ext cx="8172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ar-SY" sz="2800" b="1" dirty="0">
                <a:solidFill>
                  <a:srgbClr val="FF0000"/>
                </a:solidFill>
                <a:latin typeface="Simplified Arabic" pitchFamily="18" charset="-78"/>
                <a:cs typeface="Simplified Arabic" pitchFamily="18" charset="-78"/>
              </a:rPr>
              <a:t>يهدف المشروع الى:</a:t>
            </a:r>
            <a:endParaRPr lang="en-US" sz="2800" b="1" dirty="0">
              <a:solidFill>
                <a:srgbClr val="FF0000"/>
              </a:solidFill>
              <a:latin typeface="Simplified Arabic" pitchFamily="18" charset="-78"/>
              <a:cs typeface="Simplified Arabic" pitchFamily="18" charset="-78"/>
            </a:endParaRPr>
          </a:p>
          <a:p>
            <a:pPr lvl="0" algn="r" defTabSz="457200" rtl="1">
              <a:defRPr/>
            </a:pPr>
            <a:r>
              <a:rPr lang="ar-SY" sz="2800" dirty="0">
                <a:solidFill>
                  <a:prstClr val="black"/>
                </a:solidFill>
                <a:latin typeface="Century Gothic" panose="020B0502020202020204"/>
              </a:rPr>
              <a:t>نقل الصوت والصورة عن طريق الليزر والمستشعرات الضوئية</a:t>
            </a:r>
          </a:p>
          <a:p>
            <a:pPr algn="just" rtl="1"/>
            <a:r>
              <a:rPr lang="ar-SY" sz="2800" dirty="0">
                <a:latin typeface="Simplified Arabic" pitchFamily="18" charset="-78"/>
                <a:cs typeface="Simplified Arabic" pitchFamily="18" charset="-78"/>
              </a:rPr>
              <a:t>بالاعتماد على:</a:t>
            </a:r>
          </a:p>
          <a:p>
            <a:pPr algn="just" rtl="1"/>
            <a:r>
              <a:rPr lang="ar-SY" sz="2800" dirty="0">
                <a:latin typeface="Simplified Arabic" pitchFamily="18" charset="-78"/>
                <a:cs typeface="Simplified Arabic" pitchFamily="18" charset="-78"/>
              </a:rPr>
              <a:t>1.الالكترونيات الضوئية</a:t>
            </a:r>
          </a:p>
          <a:p>
            <a:pPr algn="just" rtl="1"/>
            <a:r>
              <a:rPr lang="ar-SY" sz="2800" dirty="0">
                <a:latin typeface="Simplified Arabic" pitchFamily="18" charset="-78"/>
                <a:cs typeface="Simplified Arabic" pitchFamily="18" charset="-78"/>
              </a:rPr>
              <a:t>2.معالجة الاشارة</a:t>
            </a:r>
          </a:p>
          <a:p>
            <a:pPr algn="just" rtl="1"/>
            <a:r>
              <a:rPr lang="ar-SY" sz="2800" dirty="0">
                <a:latin typeface="Simplified Arabic" pitchFamily="18" charset="-78"/>
                <a:cs typeface="Simplified Arabic" pitchFamily="18" charset="-78"/>
              </a:rPr>
              <a:t>3.انظمة الاتصالات</a:t>
            </a:r>
          </a:p>
        </p:txBody>
      </p:sp>
    </p:spTree>
    <p:extLst>
      <p:ext uri="{BB962C8B-B14F-4D97-AF65-F5344CB8AC3E}">
        <p14:creationId xmlns:p14="http://schemas.microsoft.com/office/powerpoint/2010/main" val="2926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ar-SY" sz="2800" b="0" dirty="0">
                <a:latin typeface="Simplified Arabic" pitchFamily="18" charset="-78"/>
                <a:cs typeface="Simplified Arabic" pitchFamily="18" charset="-78"/>
              </a:rPr>
              <a:t>مشكلة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الاساسيات النظرية</a:t>
            </a:r>
            <a:endParaRPr lang="ar-SY" sz="2800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قائمة المراجع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595641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5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61264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323528" y="6309320"/>
            <a:ext cx="984019" cy="365125"/>
          </a:xfrm>
        </p:spPr>
        <p:txBody>
          <a:bodyPr/>
          <a:lstStyle/>
          <a:p>
            <a:pPr algn="l"/>
            <a:fld id="{C489637A-11D4-42A0-937C-45FCD8DF8B40}" type="slidenum">
              <a:rPr lang="en-US" sz="4000" b="1">
                <a:solidFill>
                  <a:schemeClr val="tx1"/>
                </a:solidFill>
              </a:rPr>
              <a:pPr algn="l"/>
              <a:t>6</a:t>
            </a:fld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عنوان 1"/>
          <p:cNvSpPr>
            <a:spLocks noGrp="1"/>
          </p:cNvSpPr>
          <p:nvPr>
            <p:ph type="title" idx="4294967295"/>
          </p:nvPr>
        </p:nvSpPr>
        <p:spPr>
          <a:xfrm>
            <a:off x="899592" y="143313"/>
            <a:ext cx="6480720" cy="719138"/>
          </a:xfrm>
        </p:spPr>
        <p:txBody>
          <a:bodyPr>
            <a:normAutofit/>
          </a:bodyPr>
          <a:lstStyle/>
          <a:p>
            <a:pPr algn="ctr" defTabSz="457200" rtl="0"/>
            <a:r>
              <a:rPr lang="ar-SY" sz="3200" b="1" dirty="0">
                <a:solidFill>
                  <a:schemeClr val="tx1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ال</a:t>
            </a:r>
            <a:r>
              <a:rPr lang="ar-AE" sz="3200" b="1" dirty="0">
                <a:solidFill>
                  <a:schemeClr val="tx1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مشكلة</a:t>
            </a:r>
            <a:r>
              <a:rPr lang="ar-SY" sz="3200" b="1" dirty="0">
                <a:solidFill>
                  <a:schemeClr val="tx1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 التي يعالجها المشروع</a:t>
            </a:r>
            <a:r>
              <a:rPr lang="ar-AE" sz="3200" b="1" dirty="0">
                <a:solidFill>
                  <a:schemeClr val="tx1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 </a:t>
            </a:r>
            <a:r>
              <a:rPr lang="ar-SY" sz="3200" b="1" dirty="0">
                <a:solidFill>
                  <a:schemeClr val="tx1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وأهميته</a:t>
            </a:r>
            <a:endParaRPr lang="en-US" sz="3200" b="1" dirty="0">
              <a:solidFill>
                <a:schemeClr val="tx1"/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مستطيل 2"/>
          <p:cNvSpPr/>
          <p:nvPr/>
        </p:nvSpPr>
        <p:spPr>
          <a:xfrm>
            <a:off x="510989" y="1304541"/>
            <a:ext cx="80602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تصميم وتنفيذ منظومة اتصال ضوئي لاسلكي تنقل الصوت والصورة باستخدام شعاع الليزر والمستقبلات الضوئية ,كبديل منخفض التكلفة وامن لا يعتمد على الطيف الراديوي المزدحم</a:t>
            </a:r>
            <a:endParaRPr lang="en-US" sz="2400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5" name="عنوان 1"/>
          <p:cNvSpPr txBox="1">
            <a:spLocks/>
          </p:cNvSpPr>
          <p:nvPr/>
        </p:nvSpPr>
        <p:spPr>
          <a:xfrm>
            <a:off x="6804246" y="508738"/>
            <a:ext cx="1990815" cy="821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57200" rtl="1">
              <a:lnSpc>
                <a:spcPct val="100000"/>
              </a:lnSpc>
            </a:pPr>
            <a:r>
              <a:rPr lang="ar-AE" sz="2800" b="1" dirty="0">
                <a:solidFill>
                  <a:srgbClr val="FF0000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مشكلة ال</a:t>
            </a:r>
            <a:r>
              <a:rPr lang="ar-SY" sz="2800" b="1" dirty="0">
                <a:solidFill>
                  <a:srgbClr val="FF0000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مشروع:</a:t>
            </a:r>
            <a:endParaRPr lang="en-US" sz="2800" b="1" dirty="0">
              <a:solidFill>
                <a:srgbClr val="FF0000"/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7" name="عنوان 1"/>
          <p:cNvSpPr txBox="1">
            <a:spLocks/>
          </p:cNvSpPr>
          <p:nvPr/>
        </p:nvSpPr>
        <p:spPr>
          <a:xfrm>
            <a:off x="6516215" y="2974257"/>
            <a:ext cx="2278845" cy="719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57200" rtl="1"/>
            <a:r>
              <a:rPr lang="ar-SY" sz="2800" b="1" dirty="0">
                <a:solidFill>
                  <a:srgbClr val="FF0000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أهمية</a:t>
            </a:r>
            <a:r>
              <a:rPr lang="ar-AE" sz="2800" b="1" dirty="0">
                <a:solidFill>
                  <a:srgbClr val="FF0000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 ال</a:t>
            </a:r>
            <a:r>
              <a:rPr lang="ar-SY" sz="2800" b="1" dirty="0">
                <a:solidFill>
                  <a:srgbClr val="FF0000"/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مشروع:</a:t>
            </a:r>
            <a:endParaRPr lang="en-US" sz="2800" b="1" dirty="0">
              <a:solidFill>
                <a:srgbClr val="FF0000"/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7639" y="3697405"/>
            <a:ext cx="79794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1. تقليل التداخل في الشبكات</a:t>
            </a:r>
          </a:p>
          <a:p>
            <a:pPr algn="r" rtl="1"/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2. زيادة الامان في الاتصال</a:t>
            </a:r>
          </a:p>
          <a:p>
            <a:pPr algn="r" rtl="1"/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3.يمكن استخدام هذه التقنيات في الاتصالات بين المباني الاتصالات العسكرية والاتصالات في الاماكن التي يمنع فيها استخدام الموجات الراديوية</a:t>
            </a:r>
          </a:p>
        </p:txBody>
      </p:sp>
    </p:spTree>
    <p:extLst>
      <p:ext uri="{BB962C8B-B14F-4D97-AF65-F5344CB8AC3E}">
        <p14:creationId xmlns:p14="http://schemas.microsoft.com/office/powerpoint/2010/main" val="322347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مشكلة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الاساسيات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قائمة المراجع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595641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7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2656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55776" y="188640"/>
            <a:ext cx="3419872" cy="720080"/>
          </a:xfrm>
        </p:spPr>
        <p:txBody>
          <a:bodyPr>
            <a:noAutofit/>
          </a:bodyPr>
          <a:lstStyle/>
          <a:p>
            <a:pPr algn="r" rtl="1"/>
            <a:r>
              <a:rPr lang="ar-SY" sz="3200" b="1" dirty="0">
                <a:solidFill>
                  <a:schemeClr val="tx1"/>
                </a:solidFill>
                <a:latin typeface="Simplified Arabic" pitchFamily="18" charset="-78"/>
                <a:cs typeface="Simplified Arabic" pitchFamily="18" charset="-78"/>
              </a:rPr>
              <a:t>مخطط</a:t>
            </a:r>
            <a:r>
              <a:rPr lang="ar-AE" sz="3200" b="1" dirty="0">
                <a:solidFill>
                  <a:schemeClr val="tx1"/>
                </a:solidFill>
                <a:latin typeface="Simplified Arabic" pitchFamily="18" charset="-78"/>
                <a:cs typeface="Simplified Arabic" pitchFamily="18" charset="-78"/>
              </a:rPr>
              <a:t> ال</a:t>
            </a:r>
            <a:r>
              <a:rPr lang="ar-SY" sz="3200" b="1" dirty="0">
                <a:solidFill>
                  <a:schemeClr val="tx1"/>
                </a:solidFill>
                <a:latin typeface="Simplified Arabic" pitchFamily="18" charset="-78"/>
                <a:cs typeface="Simplified Arabic" pitchFamily="18" charset="-78"/>
              </a:rPr>
              <a:t>مشروع المعتمد</a:t>
            </a:r>
            <a:endParaRPr lang="en-US" sz="3200" dirty="0">
              <a:solidFill>
                <a:schemeClr val="tx1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xfrm>
            <a:off x="179512" y="6309320"/>
            <a:ext cx="1315721" cy="365125"/>
          </a:xfrm>
        </p:spPr>
        <p:txBody>
          <a:bodyPr/>
          <a:lstStyle/>
          <a:p>
            <a:fld id="{C489637A-11D4-42A0-937C-45FCD8DF8B40}" type="slidenum">
              <a:rPr lang="en-US" sz="4400" smtClean="0"/>
              <a:t>8</a:t>
            </a:fld>
            <a:endParaRPr lang="en-US" sz="4400" dirty="0"/>
          </a:p>
        </p:txBody>
      </p:sp>
      <p:sp>
        <p:nvSpPr>
          <p:cNvPr id="3" name="مستطيل 2"/>
          <p:cNvSpPr/>
          <p:nvPr/>
        </p:nvSpPr>
        <p:spPr>
          <a:xfrm>
            <a:off x="107504" y="908720"/>
            <a:ext cx="8784976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- إجراء دراسة مرجعية ونظرية ل تقنية نقل الصوت و الصورةعن طريق الليزر والمستقبلات الضوئية</a:t>
            </a:r>
          </a:p>
          <a:p>
            <a:pPr algn="r" rtl="1">
              <a:lnSpc>
                <a:spcPct val="150000"/>
              </a:lnSpc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- إجراء دراسة مرجعية ونظرية لبروتوكولات لـ تقنية نقل الصوت و عن طريق الليزر والمستقبلات الضوئية</a:t>
            </a:r>
          </a:p>
          <a:p>
            <a:pPr marL="342900" indent="-342900" algn="r" rtl="1">
              <a:lnSpc>
                <a:spcPct val="150000"/>
              </a:lnSpc>
              <a:buFontTx/>
              <a:buChar char="-"/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تطبيق الدارة واختبار التوصيل </a:t>
            </a:r>
          </a:p>
          <a:p>
            <a:pPr marL="342900" indent="-342900" algn="r" rtl="1">
              <a:lnSpc>
                <a:spcPct val="150000"/>
              </a:lnSpc>
              <a:buFontTx/>
              <a:buChar char="-"/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اختبار الدارة </a:t>
            </a:r>
          </a:p>
          <a:p>
            <a:pPr algn="r" rtl="1">
              <a:lnSpc>
                <a:spcPct val="150000"/>
              </a:lnSpc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- كتابة التقرير</a:t>
            </a:r>
          </a:p>
          <a:p>
            <a:pPr algn="r" rtl="1">
              <a:lnSpc>
                <a:spcPct val="150000"/>
              </a:lnSpc>
            </a:pPr>
            <a:r>
              <a:rPr lang="ar-SY" sz="2400" dirty="0">
                <a:latin typeface="Simplified Arabic" pitchFamily="18" charset="-78"/>
                <a:cs typeface="Simplified Arabic" pitchFamily="18" charset="-78"/>
              </a:rPr>
              <a:t>- الدفاع عن المشروع</a:t>
            </a:r>
          </a:p>
        </p:txBody>
      </p:sp>
    </p:spTree>
    <p:extLst>
      <p:ext uri="{BB962C8B-B14F-4D97-AF65-F5344CB8AC3E}">
        <p14:creationId xmlns:p14="http://schemas.microsoft.com/office/powerpoint/2010/main" val="280299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مشكلة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algn="r" rtl="1">
              <a:lnSpc>
                <a:spcPct val="150000"/>
              </a:lnSpc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قائمة المراجع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595641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9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265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392F-B2D1-4A15-A8C4-D54791310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252"/>
            <a:ext cx="7772400" cy="1470025"/>
          </a:xfrm>
        </p:spPr>
        <p:txBody>
          <a:bodyPr>
            <a:normAutofit/>
          </a:bodyPr>
          <a:lstStyle/>
          <a:p>
            <a:r>
              <a:rPr lang="ar-SY" sz="3200" dirty="0"/>
              <a:t>الدراسات المرجعية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62688-E8B9-4FBA-B403-94BBB966E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76" y="1628800"/>
            <a:ext cx="7702624" cy="4010000"/>
          </a:xfrm>
        </p:spPr>
        <p:txBody>
          <a:bodyPr>
            <a:normAutofit/>
          </a:bodyPr>
          <a:lstStyle/>
          <a:p>
            <a:pPr algn="r" rtl="1"/>
            <a:r>
              <a:rPr lang="ar-SY" sz="2500" dirty="0"/>
              <a:t>1.رسالة جامعية ليوبليانا عن(</a:t>
            </a:r>
            <a:r>
              <a:rPr lang="en-US" sz="2500" dirty="0"/>
              <a:t>FSO</a:t>
            </a:r>
            <a:r>
              <a:rPr lang="ar-SY" sz="2500" dirty="0"/>
              <a:t>)</a:t>
            </a:r>
          </a:p>
          <a:p>
            <a:pPr algn="r" rtl="1"/>
            <a:r>
              <a:rPr lang="ar-SY" sz="2000" dirty="0"/>
              <a:t>تشرح خصائص تقنية ال</a:t>
            </a:r>
            <a:r>
              <a:rPr lang="en-US" sz="2000" dirty="0"/>
              <a:t>FSO</a:t>
            </a:r>
            <a:r>
              <a:rPr lang="ar-SY" sz="2000" dirty="0"/>
              <a:t>و تاكد ان الطقس اكبر عامل ياثر في جودة النقل وتصف الليزرديود والفوتوديود كمكونين رئيسيين</a:t>
            </a:r>
          </a:p>
          <a:p>
            <a:pPr algn="r" rtl="1"/>
            <a:r>
              <a:rPr lang="ar-SY" sz="2000" dirty="0"/>
              <a:t>2.</a:t>
            </a:r>
            <a:r>
              <a:rPr lang="en-US" sz="2000" dirty="0"/>
              <a:t> Digital Transmission in Free Space through a High-Power Laser (UCF، 2025)</a:t>
            </a:r>
            <a:br>
              <a:rPr lang="en-US" sz="2000" dirty="0"/>
            </a:br>
            <a:r>
              <a:rPr lang="ar-JO" sz="2000" dirty="0"/>
              <a:t>ملخص من مقتطفات البحث:</a:t>
            </a:r>
            <a:br>
              <a:rPr lang="ar-JO" sz="2000" dirty="0"/>
            </a:br>
            <a:r>
              <a:rPr lang="ar-JO" sz="2000" dirty="0"/>
              <a:t>يتحقق من نظام اتصال بصري رقمي بليزر عالي القدرة ومستقبل فوتوديود، وتُضمَّن فيه الإشارة بتشغيل الليزر وإطفائه من </a:t>
            </a:r>
            <a:r>
              <a:rPr lang="ar-JO" sz="2000"/>
              <a:t>متحكم.</a:t>
            </a:r>
            <a:br>
              <a:rPr lang="en-US" sz="2000" dirty="0"/>
            </a:br>
            <a:endParaRPr lang="ar-SY" sz="2000" dirty="0"/>
          </a:p>
          <a:p>
            <a:pPr algn="r" rtl="1"/>
            <a:endParaRPr lang="ar-SY" sz="2000" dirty="0"/>
          </a:p>
          <a:p>
            <a:pPr algn="r" rt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559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مشكلة المشروع وأهميته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الاساسيات النظرية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</a:t>
            </a: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قائمة المراجع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5949280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489637A-11D4-42A0-937C-45FCD8DF8B40}" type="slidenum">
              <a:rPr lang="en-US" sz="4400"/>
              <a:pPr/>
              <a:t>11</a:t>
            </a:fld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942275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627784" y="41410"/>
            <a:ext cx="3568871" cy="620688"/>
          </a:xfrm>
        </p:spPr>
        <p:txBody>
          <a:bodyPr>
            <a:normAutofit/>
          </a:bodyPr>
          <a:lstStyle/>
          <a:p>
            <a:pPr algn="r" rtl="1"/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الأساسيات النظرية(</a:t>
            </a:r>
            <a:r>
              <a:rPr lang="ar-SY" sz="3200" b="1" dirty="0">
                <a:solidFill>
                  <a:srgbClr val="FF0000"/>
                </a:solidFill>
                <a:cs typeface="Simplified Arabic" panose="02020603050405020304" pitchFamily="18" charset="-78"/>
              </a:rPr>
              <a:t>6</a:t>
            </a:r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/1)</a:t>
            </a:r>
            <a:endParaRPr lang="ar-SA" dirty="0">
              <a:solidFill>
                <a:schemeClr val="tx1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107504" y="781329"/>
            <a:ext cx="8928992" cy="6763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SY" sz="3600" b="1" dirty="0">
                <a:solidFill>
                  <a:srgbClr val="FF0000"/>
                </a:solidFill>
                <a:latin typeface="Simplified Arabic" pitchFamily="18" charset="-78"/>
                <a:cs typeface="Simplified Arabic" pitchFamily="18" charset="-78"/>
              </a:rPr>
              <a:t>التعاريف النظرية:</a:t>
            </a:r>
          </a:p>
          <a:p>
            <a:pPr algn="r" rtl="1"/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1.</a:t>
            </a:r>
            <a:r>
              <a:rPr lang="ar-SY" sz="2000" b="1" dirty="0"/>
              <a:t> تقنية ال(</a:t>
            </a:r>
            <a:r>
              <a:rPr lang="en-US" sz="2000" b="1" dirty="0"/>
              <a:t>FSO</a:t>
            </a:r>
            <a:r>
              <a:rPr lang="ar-SY" sz="2000" b="1" dirty="0"/>
              <a:t>)</a:t>
            </a:r>
            <a:r>
              <a:rPr lang="en-US" sz="2000" b="1" dirty="0"/>
              <a:t>Free Space Optics</a:t>
            </a:r>
          </a:p>
          <a:p>
            <a:pPr algn="r" rtl="1"/>
            <a:r>
              <a:rPr lang="ar-SY" sz="2000" dirty="0"/>
              <a:t>الاتصال الضوئي في الفضاء الحر هي تقنية اتصال لاسلكية تنقل البيانات (صوت,صورة,انتر نت)بواسطة شعاع ضوئي ,غالبا ليزر او </a:t>
            </a:r>
            <a:r>
              <a:rPr lang="en-US" sz="2000" dirty="0"/>
              <a:t>LED</a:t>
            </a:r>
            <a:r>
              <a:rPr lang="ar-SY" sz="2000" dirty="0"/>
              <a:t> ,عبر الهواء او الفضاء دون الياف ضوئية او موجات راديوية</a:t>
            </a:r>
            <a:endParaRPr lang="en-US" sz="2000" dirty="0"/>
          </a:p>
          <a:p>
            <a:pPr lvl="0" algn="r" rtl="1"/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2.</a:t>
            </a:r>
            <a:r>
              <a:rPr lang="en-US" sz="2000" b="1" dirty="0">
                <a:latin typeface="Simplified Arabic" pitchFamily="18" charset="-78"/>
                <a:cs typeface="Simplified Arabic" pitchFamily="18" charset="-78"/>
              </a:rPr>
              <a:t>Laser</a:t>
            </a:r>
          </a:p>
          <a:p>
            <a:pPr lvl="0" algn="r" rtl="1"/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هو جهاز يولد شعاع ضوئي مركز وعالي الشدة يستخدم في نقل الاشارة الصوتية عبر الهواء من المرسل الى المستقبل.</a:t>
            </a:r>
          </a:p>
          <a:p>
            <a:pPr lvl="0" algn="r" rtl="1"/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3.</a:t>
            </a:r>
            <a:r>
              <a:rPr lang="en-US" sz="2000" b="1" dirty="0">
                <a:latin typeface="Simplified Arabic" pitchFamily="18" charset="-78"/>
                <a:cs typeface="Simplified Arabic" pitchFamily="18" charset="-78"/>
              </a:rPr>
              <a:t>photodetectors</a:t>
            </a:r>
          </a:p>
          <a:p>
            <a:pPr lvl="0" algn="r" rtl="1"/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عناصر الكترونية تحول الطاقة الضوئيةالساقطة عليها الى اشارة كهربائية (تيار او جهد)تتناسب مع شدة الضوء الساقط عليهاوتعتمد على التاثير الكهرضوئي الداخلي</a:t>
            </a:r>
          </a:p>
          <a:p>
            <a:pPr lvl="0" algn="r" rtl="1"/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4.</a:t>
            </a:r>
            <a:r>
              <a:rPr lang="en-US" sz="2000" b="1" dirty="0">
                <a:latin typeface="Simplified Arabic" pitchFamily="18" charset="-78"/>
                <a:cs typeface="Simplified Arabic" pitchFamily="18" charset="-78"/>
              </a:rPr>
              <a:t>Microphone</a:t>
            </a:r>
          </a:p>
          <a:p>
            <a:pPr lvl="0" algn="r" rtl="1"/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جهاز يحول الموجات الصوتية الى اشارة كهربائيةيمكن معالجتها وارسالها عبر النظام.</a:t>
            </a:r>
          </a:p>
          <a:p>
            <a:pPr lvl="0" algn="r" rtl="1"/>
            <a:endParaRPr lang="ar-SY" sz="2000" dirty="0">
              <a:latin typeface="Simplified Arabic" pitchFamily="18" charset="-78"/>
              <a:cs typeface="Simplified Arabic" pitchFamily="18" charset="-78"/>
            </a:endParaRPr>
          </a:p>
          <a:p>
            <a:pPr lvl="0" algn="r" rtl="1"/>
            <a:endParaRPr lang="ar-SY" sz="2000" dirty="0">
              <a:latin typeface="Simplified Arabic" pitchFamily="18" charset="-78"/>
              <a:cs typeface="Simplified Arabic" pitchFamily="18" charset="-78"/>
            </a:endParaRPr>
          </a:p>
          <a:p>
            <a:pPr lvl="0" algn="r" rtl="1"/>
            <a:endParaRPr lang="ar-SY" sz="2000" dirty="0">
              <a:latin typeface="Simplified Arabic" pitchFamily="18" charset="-78"/>
              <a:cs typeface="Simplified Arabic" pitchFamily="18" charset="-78"/>
            </a:endParaRPr>
          </a:p>
          <a:p>
            <a:pPr lvl="0">
              <a:lnSpc>
                <a:spcPct val="150000"/>
              </a:lnSpc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7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792088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12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67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BEFF-88A3-421F-B7D7-0AC024DE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ar-SY" sz="3600" b="1" dirty="0"/>
              <a:t>الاساسيات النظرية(6/2)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9CF84-5AA4-4F86-81BB-1A0F2AFB9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166018"/>
            <a:ext cx="8928992" cy="4525963"/>
          </a:xfrm>
        </p:spPr>
        <p:txBody>
          <a:bodyPr/>
          <a:lstStyle/>
          <a:p>
            <a:pPr marL="0" indent="0" algn="r" rtl="1">
              <a:buNone/>
            </a:pPr>
            <a:r>
              <a:rPr lang="ar-SY" sz="2500" b="1" dirty="0">
                <a:solidFill>
                  <a:srgbClr val="FF0000"/>
                </a:solidFill>
              </a:rPr>
              <a:t>التعاريف النظرية:</a:t>
            </a:r>
          </a:p>
          <a:p>
            <a:pPr marL="0" indent="0" algn="r" rtl="1">
              <a:buNone/>
            </a:pPr>
            <a:r>
              <a:rPr lang="ar-SY" sz="2000" b="1" dirty="0"/>
              <a:t>5.</a:t>
            </a:r>
            <a:r>
              <a:rPr lang="en-US" sz="2000" b="1" dirty="0"/>
              <a:t>Amplifier</a:t>
            </a:r>
          </a:p>
          <a:p>
            <a:pPr marL="0" indent="0" algn="r" rtl="1">
              <a:buNone/>
            </a:pPr>
            <a:r>
              <a:rPr lang="ar-SY" sz="2000" dirty="0"/>
              <a:t>دارة الكترونية تقوم بتضخيم الاشارة الكهربائية الضعيفة حتى تصبح مناسبة لتشغيل الليزر او السماعة.</a:t>
            </a:r>
          </a:p>
          <a:p>
            <a:pPr marL="0" indent="0" algn="r" rtl="1">
              <a:buNone/>
            </a:pPr>
            <a:r>
              <a:rPr lang="ar-SY" sz="2000" b="1" dirty="0"/>
              <a:t>6.</a:t>
            </a:r>
            <a:r>
              <a:rPr lang="en-US" sz="2000" b="1" dirty="0"/>
              <a:t>Speaker</a:t>
            </a:r>
          </a:p>
          <a:p>
            <a:pPr marL="0" indent="0" algn="r" rtl="1">
              <a:buNone/>
            </a:pPr>
            <a:r>
              <a:rPr lang="ar-SY" sz="2000" dirty="0"/>
              <a:t>جهاز يحول الاشارة الكهربائية مرة اخرى الى موجات صوتية يمكن سماعها. </a:t>
            </a:r>
          </a:p>
          <a:p>
            <a:pPr marL="0" indent="0" algn="r" rtl="1">
              <a:buNone/>
            </a:pPr>
            <a:r>
              <a:rPr lang="ar-SY" sz="2000" b="1" dirty="0"/>
              <a:t>7</a:t>
            </a:r>
            <a:r>
              <a:rPr lang="en-US" sz="2000" b="1" dirty="0"/>
              <a:t>.</a:t>
            </a:r>
            <a:r>
              <a:rPr lang="ar-SY" sz="2000" b="1" dirty="0"/>
              <a:t>الاتصالات الضوئية</a:t>
            </a:r>
          </a:p>
          <a:p>
            <a:pPr marL="0" indent="0" algn="r" rtl="1">
              <a:buNone/>
            </a:pPr>
            <a:r>
              <a:rPr lang="ar-SY" sz="2000" dirty="0"/>
              <a:t>هي عملية نقل المعلومات باستخدام الضوء بدلا من الموجات الراديوية ومن التقنيات الحديثة التي تعتمد هذا المبدأ (</a:t>
            </a:r>
            <a:r>
              <a:rPr lang="en-US" sz="2000" dirty="0"/>
              <a:t>FSO(</a:t>
            </a:r>
            <a:endParaRPr lang="ar-SY" sz="2000" dirty="0"/>
          </a:p>
          <a:p>
            <a:pPr marL="0" indent="0" algn="r" rtl="1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C0333-C417-4621-9351-70CA46F9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7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627784" y="41410"/>
            <a:ext cx="3568871" cy="620688"/>
          </a:xfrm>
        </p:spPr>
        <p:txBody>
          <a:bodyPr>
            <a:normAutofit/>
          </a:bodyPr>
          <a:lstStyle/>
          <a:p>
            <a:pPr algn="r" rtl="1"/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الأساسيات النظرية(</a:t>
            </a:r>
            <a:r>
              <a:rPr lang="ar-SY" sz="3200" b="1" dirty="0">
                <a:solidFill>
                  <a:srgbClr val="FF0000"/>
                </a:solidFill>
                <a:cs typeface="Simplified Arabic" panose="02020603050405020304" pitchFamily="18" charset="-78"/>
              </a:rPr>
              <a:t>6</a:t>
            </a:r>
            <a:r>
              <a:rPr lang="ar-SY" sz="3200" b="1" dirty="0">
                <a:solidFill>
                  <a:schemeClr val="tx1"/>
                </a:solidFill>
                <a:cs typeface="Simplified Arabic" panose="02020603050405020304" pitchFamily="18" charset="-78"/>
              </a:rPr>
              <a:t>/6)</a:t>
            </a:r>
            <a:endParaRPr lang="ar-SA" dirty="0">
              <a:solidFill>
                <a:schemeClr val="tx1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240938" y="1772816"/>
            <a:ext cx="8435518" cy="8733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</a:pPr>
            <a:r>
              <a:rPr lang="ar-SY" sz="2500" b="1" dirty="0">
                <a:solidFill>
                  <a:srgbClr val="FF0000"/>
                </a:solidFill>
                <a:latin typeface="Simplified Arabic" pitchFamily="18" charset="-78"/>
                <a:cs typeface="Simplified Arabic" pitchFamily="18" charset="-78"/>
              </a:rPr>
              <a:t>التحديات التقنية: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1</a:t>
            </a:r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.</a:t>
            </a: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تاثر الاشارة بالظروف الجوية 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2.مشكلة المحاذاة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3.الضوضاء الضوئية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4.ضعف حساسية المستقبل 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5.محدودية المسافة</a:t>
            </a:r>
          </a:p>
          <a:p>
            <a:pPr lvl="0" algn="r" rtl="1">
              <a:lnSpc>
                <a:spcPct val="150000"/>
              </a:lnSpc>
            </a:pPr>
            <a:r>
              <a:rPr lang="ar-SY" sz="2000" dirty="0">
                <a:latin typeface="Simplified Arabic" pitchFamily="18" charset="-78"/>
                <a:cs typeface="Simplified Arabic" pitchFamily="18" charset="-78"/>
              </a:rPr>
              <a:t>6.تشويه الاشارة الصوتية</a:t>
            </a:r>
          </a:p>
          <a:p>
            <a:pPr lvl="0" algn="r" rtl="1">
              <a:lnSpc>
                <a:spcPct val="150000"/>
              </a:lnSpc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lvl="0" algn="r" rtl="1">
              <a:lnSpc>
                <a:spcPct val="150000"/>
              </a:lnSpc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كامل المصطلحات الموافقة للاختصارات (بخط أصغر أسفل الشريحة)</a:t>
            </a: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marL="342900" lvl="0" indent="-342900" algn="r" rtl="1">
              <a:lnSpc>
                <a:spcPct val="150000"/>
              </a:lnSpc>
              <a:buFontTx/>
              <a:buChar char="-"/>
            </a:pPr>
            <a:endParaRPr lang="en-US" sz="2000" b="1" dirty="0">
              <a:latin typeface="Simplified Arabic" pitchFamily="18" charset="-78"/>
              <a:cs typeface="Simplified Arabic" pitchFamily="18" charset="-78"/>
            </a:endParaRPr>
          </a:p>
          <a:p>
            <a:pPr lvl="0" algn="r" rtl="1">
              <a:lnSpc>
                <a:spcPct val="150000"/>
              </a:lnSpc>
            </a:pPr>
            <a:endParaRPr lang="ar-SY" sz="2000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7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467544" y="6165304"/>
            <a:ext cx="864096" cy="365125"/>
          </a:xfrm>
        </p:spPr>
        <p:txBody>
          <a:bodyPr/>
          <a:lstStyle/>
          <a:p>
            <a:fld id="{C489637A-11D4-42A0-937C-45FCD8DF8B40}" type="slidenum">
              <a:rPr lang="en-US" sz="4400" smtClean="0">
                <a:solidFill>
                  <a:schemeClr val="tx1"/>
                </a:solidFill>
              </a:rPr>
              <a:t>14</a:t>
            </a:fld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020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مشكلة المشروع وأهميته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قائمة المراجع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5949280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489637A-11D4-42A0-937C-45FCD8DF8B40}" type="slidenum">
              <a:rPr lang="en-US" sz="4400"/>
              <a:pPr/>
              <a:t>15</a:t>
            </a:fld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8795389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4" y="332656"/>
            <a:ext cx="2976339" cy="883743"/>
          </a:xfrm>
        </p:spPr>
        <p:txBody>
          <a:bodyPr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</a:pPr>
            <a:r>
              <a:rPr lang="ar-SY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ea typeface="+mn-ea"/>
                <a:cs typeface="Simplified Arabic" pitchFamily="18" charset="-78"/>
              </a:rPr>
              <a:t>مخطط العرض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ea typeface="+mn-ea"/>
              <a:cs typeface="Simplified Arabic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6399"/>
            <a:ext cx="7506241" cy="4104456"/>
          </a:xfrm>
        </p:spPr>
        <p:txBody>
          <a:bodyPr>
            <a:noAutofit/>
          </a:bodyPr>
          <a:lstStyle/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  <a:endParaRPr lang="ar-SY" sz="2800" b="0" dirty="0">
              <a:solidFill>
                <a:schemeClr val="bg1">
                  <a:lumMod val="6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مشكلة المشروع وأهميته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مخطط المشروع المعتمد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  <a:buFontTx/>
              <a:buChar char="-"/>
            </a:pPr>
            <a:r>
              <a:rPr lang="ar-SY" sz="2800" b="0" dirty="0">
                <a:solidFill>
                  <a:schemeClr val="bg1">
                    <a:lumMod val="6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الدراسات المرجعية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ar-SY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- قائمة المراجع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5949280"/>
            <a:ext cx="7553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489637A-11D4-42A0-937C-45FCD8DF8B40}" type="slidenum">
              <a:rPr lang="en-US" sz="4400"/>
              <a:pPr/>
              <a:t>16</a:t>
            </a:fld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5848739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B7AF-00CE-4340-9DBA-738E021D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Y" dirty="0"/>
              <a:t>قائمة المراجع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C067-C58B-45F8-A8E6-39ED7925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1.Digital Transmission in Free Space through a High-Power Laser(UCF,2025)</a:t>
            </a:r>
          </a:p>
          <a:p>
            <a:pPr marL="0" indent="0" rtl="1">
              <a:buNone/>
            </a:pPr>
            <a:r>
              <a:rPr lang="ar-JO" sz="1600" dirty="0"/>
              <a:t> نظام اتصال ضوئي رقمي في الفضاء الحر يستخدم ليزر عالي القدرة ومستقبل فوتوديود. يتحكم المتحكم الدقيق بالليزر رقمياً، </a:t>
            </a:r>
            <a:r>
              <a:rPr lang="en-US" sz="1600" dirty="0">
                <a:hlinkClick r:id="rId2"/>
              </a:rPr>
              <a:t>https://www.ece.ucf.edu/seniordesign/sp2025su2025/g01/Docs/ConferencePaperGroup1.pdf</a:t>
            </a:r>
            <a:r>
              <a:rPr lang="en-US" sz="1600" dirty="0"/>
              <a:t>.</a:t>
            </a:r>
          </a:p>
          <a:p>
            <a:pPr marL="0" indent="0" rtl="1">
              <a:buNone/>
            </a:pPr>
            <a:r>
              <a:rPr lang="ar-JO" sz="1600" dirty="0"/>
              <a:t>رسالة جامعية عن </a:t>
            </a:r>
            <a:r>
              <a:rPr lang="en-US" sz="1600" dirty="0"/>
              <a:t>Free Space Optics </a:t>
            </a:r>
            <a:r>
              <a:rPr lang="ar-SY" sz="1600" dirty="0"/>
              <a:t>(</a:t>
            </a:r>
            <a:r>
              <a:rPr lang="ar-JO" sz="1600" dirty="0"/>
              <a:t>جامعة ليوبليانا</a:t>
            </a:r>
            <a:r>
              <a:rPr lang="ar-SY" sz="1600" dirty="0"/>
              <a:t>)</a:t>
            </a:r>
            <a:r>
              <a:rPr lang="ar-JO" sz="1600" dirty="0"/>
              <a:t>: تشرح تقنية </a:t>
            </a:r>
            <a:r>
              <a:rPr lang="en-US" sz="1600" dirty="0"/>
              <a:t>2.FSO</a:t>
            </a:r>
            <a:endParaRPr lang="ar-SY" sz="1600" dirty="0"/>
          </a:p>
          <a:p>
            <a:pPr marL="0" indent="0" rtl="1">
              <a:buNone/>
            </a:pPr>
            <a:r>
              <a:rPr lang="ar-JO" sz="1600" dirty="0"/>
              <a:t>مكوناتها: الليزر دايود للإرسال والفوتوديود للاستقبال، وتأثير الطقس على جودة النقل، مع تجربة عملية لنقل الصوت.</a:t>
            </a:r>
            <a:br>
              <a:rPr lang="ar-JO" sz="1600" dirty="0"/>
            </a:br>
            <a:r>
              <a:rPr lang="en-US" sz="1600" dirty="0"/>
              <a:t>https://repozitorij.uni-lj.si/IzpisGradiva.php?id=81532 </a:t>
            </a:r>
            <a:endParaRPr lang="ar-SY" sz="1600" dirty="0"/>
          </a:p>
          <a:p>
            <a:pPr marL="0" indent="0" rtl="1">
              <a:buNone/>
            </a:pPr>
            <a:endParaRPr lang="ar-SY" sz="1600" dirty="0"/>
          </a:p>
          <a:p>
            <a:pPr marL="0" indent="0" rtl="1">
              <a:buNone/>
            </a:pPr>
            <a:r>
              <a:rPr lang="ar-JO" sz="1600" dirty="0"/>
              <a:t>تقارير مشاريع مصغرة على </a:t>
            </a:r>
            <a:r>
              <a:rPr lang="en-US" sz="1600" dirty="0"/>
              <a:t>)Scribd </a:t>
            </a:r>
            <a:r>
              <a:rPr lang="ar-JO" sz="1600" dirty="0"/>
              <a:t>للفهم المبسط للدوائر فقط): تغيّر شدة الليزر بحسب الإشارة الصوتية، وتلتقطها في</a:t>
            </a:r>
            <a:r>
              <a:rPr lang="en-US" sz="1600" dirty="0"/>
              <a:t>3.</a:t>
            </a:r>
            <a:r>
              <a:rPr lang="ar-JO" sz="1600" dirty="0"/>
              <a:t> المستقبل مستشعرات مثل </a:t>
            </a:r>
            <a:r>
              <a:rPr lang="en-US" sz="1600" dirty="0"/>
              <a:t>LDR </a:t>
            </a:r>
            <a:r>
              <a:rPr lang="ar-JO" sz="1600" dirty="0"/>
              <a:t>أو فوتوترانزستور.</a:t>
            </a:r>
            <a:br>
              <a:rPr lang="ar-JO" sz="1600" dirty="0"/>
            </a:br>
            <a:r>
              <a:rPr lang="en-US" sz="1600" dirty="0"/>
              <a:t>https://www.scribd.com/document/289573890/Dc-Report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F44F6-2B0E-4654-9FD6-1E7BABDD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4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38283" y="294669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Y" sz="3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04A7D-8B06-4118-B117-D2E0C1DB71D0}"/>
              </a:ext>
            </a:extLst>
          </p:cNvPr>
          <p:cNvSpPr/>
          <p:nvPr/>
        </p:nvSpPr>
        <p:spPr>
          <a:xfrm>
            <a:off x="184569" y="1149183"/>
            <a:ext cx="8715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endParaRPr lang="en-US" sz="2000" dirty="0"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72956A-1F28-47E8-BD14-7231CF62A69D}"/>
              </a:ext>
            </a:extLst>
          </p:cNvPr>
          <p:cNvSpPr/>
          <p:nvPr/>
        </p:nvSpPr>
        <p:spPr>
          <a:xfrm>
            <a:off x="1085725" y="2492896"/>
            <a:ext cx="6912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شكراً لحسن استماعكم</a:t>
            </a:r>
            <a:endParaRPr lang="ar-SY" sz="5400" b="1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115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5170</TotalTime>
  <Words>845</Words>
  <Application>Microsoft Office PowerPoint</Application>
  <PresentationFormat>On-screen Show (4:3)</PresentationFormat>
  <Paragraphs>165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Simplified Arabic</vt:lpstr>
      <vt:lpstr>Times New Roman</vt:lpstr>
      <vt:lpstr>Office Theme</vt:lpstr>
      <vt:lpstr>PowerPoint Presentation</vt:lpstr>
      <vt:lpstr>مخطط العرض</vt:lpstr>
      <vt:lpstr>مخطط العرض</vt:lpstr>
      <vt:lpstr>هدف المشروع</vt:lpstr>
      <vt:lpstr>مخطط العرض</vt:lpstr>
      <vt:lpstr>المشكلة التي يعالجها المشروع وأهميته</vt:lpstr>
      <vt:lpstr>مخطط العرض</vt:lpstr>
      <vt:lpstr>مخطط المشروع المعتمد</vt:lpstr>
      <vt:lpstr>مخطط العرض</vt:lpstr>
      <vt:lpstr>الدراسات المرجعية</vt:lpstr>
      <vt:lpstr>مخطط العرض</vt:lpstr>
      <vt:lpstr>الأساسيات النظرية(6/1)</vt:lpstr>
      <vt:lpstr>الاساسيات النظرية(6/2)</vt:lpstr>
      <vt:lpstr>الأساسيات النظرية(6/6)</vt:lpstr>
      <vt:lpstr>مخطط العرض</vt:lpstr>
      <vt:lpstr>مخطط العرض</vt:lpstr>
      <vt:lpstr>قائمة المراجع</vt:lpstr>
      <vt:lpstr>PowerPoint Presentation</vt:lpstr>
    </vt:vector>
  </TitlesOfParts>
  <Company>Enjoy My Fine Releases.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DR.Ahmed Saker 2o1O</dc:creator>
  <cp:lastModifiedBy>96399</cp:lastModifiedBy>
  <cp:revision>907</cp:revision>
  <dcterms:created xsi:type="dcterms:W3CDTF">2022-03-11T15:34:43Z</dcterms:created>
  <dcterms:modified xsi:type="dcterms:W3CDTF">2026-10-28T21:49:21Z</dcterms:modified>
</cp:coreProperties>
</file>